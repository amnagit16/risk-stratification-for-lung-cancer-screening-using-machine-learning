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/>
    <p:restoredTop sz="94719"/>
  </p:normalViewPr>
  <p:slideViewPr>
    <p:cSldViewPr snapToGrid="0" snapToObjects="1">
      <p:cViewPr varScale="1">
        <p:scale>
          <a:sx n="120" d="100"/>
          <a:sy n="120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2388CD-58A5-4ED6-A961-FFA475D1BEAD}" type="doc">
      <dgm:prSet loTypeId="urn:microsoft.com/office/officeart/2005/8/layout/vList2" loCatId="list" qsTypeId="urn:microsoft.com/office/officeart/2005/8/quickstyle/simple3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86288B6-9D25-9046-9EE3-6FFCA65CCA35}">
      <dgm:prSet/>
      <dgm:spPr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</a:gradFill>
      </dgm:spPr>
      <dgm:t>
        <a:bodyPr/>
        <a:lstStyle/>
        <a:p>
          <a:pPr algn="l"/>
          <a:r>
            <a:rPr lang="en-AU" b="0" dirty="0"/>
            <a:t>Cancer incidence increases with age, showing a clear upward trend</a:t>
          </a:r>
        </a:p>
        <a:p>
          <a:pPr algn="l"/>
          <a:r>
            <a:rPr lang="en-AU" b="0" dirty="0"/>
            <a:t>Older age groups demonstrate significantly higher prevalence</a:t>
          </a:r>
        </a:p>
        <a:p>
          <a:pPr algn="l"/>
          <a:r>
            <a:rPr lang="en-AU" b="0" dirty="0"/>
            <a:t>Age is a critical factor in determining screening eligibility</a:t>
          </a:r>
        </a:p>
        <a:p>
          <a:pPr algn="l"/>
          <a:r>
            <a:rPr lang="en-AU" b="1" i="0" dirty="0"/>
            <a:t>Key Insight:</a:t>
          </a:r>
          <a:br>
            <a:rPr lang="en-AU" i="0" dirty="0"/>
          </a:br>
          <a:r>
            <a:rPr lang="en-AU" i="0" dirty="0"/>
            <a:t>Age is a primary driver of lung cancer risk and a critical factor for targeted screening.</a:t>
          </a:r>
          <a:endParaRPr lang="en-AU" b="0" i="0" dirty="0"/>
        </a:p>
      </dgm:t>
    </dgm:pt>
    <dgm:pt modelId="{12B129AD-3FBF-E646-94FC-22AF667F5ABF}" type="parTrans" cxnId="{93125664-492C-9B47-BD43-05E7001ED11E}">
      <dgm:prSet/>
      <dgm:spPr/>
      <dgm:t>
        <a:bodyPr/>
        <a:lstStyle/>
        <a:p>
          <a:endParaRPr lang="en-GB"/>
        </a:p>
      </dgm:t>
    </dgm:pt>
    <dgm:pt modelId="{1E6B4494-8D09-7443-ADDB-2956CECC529C}" type="sibTrans" cxnId="{93125664-492C-9B47-BD43-05E7001ED11E}">
      <dgm:prSet/>
      <dgm:spPr/>
      <dgm:t>
        <a:bodyPr/>
        <a:lstStyle/>
        <a:p>
          <a:endParaRPr lang="en-GB"/>
        </a:p>
      </dgm:t>
    </dgm:pt>
    <dgm:pt modelId="{A0CB8D6C-0C5D-914E-9A1C-07E9FD428019}" type="pres">
      <dgm:prSet presAssocID="{C92388CD-58A5-4ED6-A961-FFA475D1BEAD}" presName="linear" presStyleCnt="0">
        <dgm:presLayoutVars>
          <dgm:animLvl val="lvl"/>
          <dgm:resizeHandles val="exact"/>
        </dgm:presLayoutVars>
      </dgm:prSet>
      <dgm:spPr/>
    </dgm:pt>
    <dgm:pt modelId="{E9506147-6BEE-0941-8C82-136155465607}" type="pres">
      <dgm:prSet presAssocID="{686288B6-9D25-9046-9EE3-6FFCA65CCA35}" presName="parentText" presStyleLbl="node1" presStyleIdx="0" presStyleCnt="1" custLinFactNeighborX="5355" custLinFactNeighborY="-289">
        <dgm:presLayoutVars>
          <dgm:chMax val="0"/>
          <dgm:bulletEnabled val="1"/>
        </dgm:presLayoutVars>
      </dgm:prSet>
      <dgm:spPr/>
    </dgm:pt>
  </dgm:ptLst>
  <dgm:cxnLst>
    <dgm:cxn modelId="{93125664-492C-9B47-BD43-05E7001ED11E}" srcId="{C92388CD-58A5-4ED6-A961-FFA475D1BEAD}" destId="{686288B6-9D25-9046-9EE3-6FFCA65CCA35}" srcOrd="0" destOrd="0" parTransId="{12B129AD-3FBF-E646-94FC-22AF667F5ABF}" sibTransId="{1E6B4494-8D09-7443-ADDB-2956CECC529C}"/>
    <dgm:cxn modelId="{D7E74F87-B5E1-4A49-8C79-21698B8309E9}" type="presOf" srcId="{C92388CD-58A5-4ED6-A961-FFA475D1BEAD}" destId="{A0CB8D6C-0C5D-914E-9A1C-07E9FD428019}" srcOrd="0" destOrd="0" presId="urn:microsoft.com/office/officeart/2005/8/layout/vList2"/>
    <dgm:cxn modelId="{11E370BB-F005-B24C-A286-E9EFEF7F751E}" type="presOf" srcId="{686288B6-9D25-9046-9EE3-6FFCA65CCA35}" destId="{E9506147-6BEE-0941-8C82-136155465607}" srcOrd="0" destOrd="0" presId="urn:microsoft.com/office/officeart/2005/8/layout/vList2"/>
    <dgm:cxn modelId="{4AE028CF-733F-8049-AB38-DCB90D357E02}" type="presParOf" srcId="{A0CB8D6C-0C5D-914E-9A1C-07E9FD428019}" destId="{E9506147-6BEE-0941-8C82-13615546560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C6CE7-E46C-4B48-A392-F6E51E5FBF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F16251C-3383-46BE-9C18-E9FF7F3DA5DD}">
      <dgm:prSet/>
      <dgm:spPr/>
      <dgm:t>
        <a:bodyPr/>
        <a:lstStyle/>
        <a:p>
          <a:r>
            <a:rPr lang="en-AU" b="1" dirty="0"/>
            <a:t>Lung cancer remains a high-mortality disease</a:t>
          </a:r>
          <a:endParaRPr lang="en-US" dirty="0"/>
        </a:p>
      </dgm:t>
    </dgm:pt>
    <dgm:pt modelId="{93B4BDFA-F214-4098-9C7B-0AE95BE2D0AB}" type="parTrans" cxnId="{6A1B294E-5BC9-4E58-8BA1-14E3C1E20E20}">
      <dgm:prSet/>
      <dgm:spPr/>
      <dgm:t>
        <a:bodyPr/>
        <a:lstStyle/>
        <a:p>
          <a:endParaRPr lang="en-US"/>
        </a:p>
      </dgm:t>
    </dgm:pt>
    <dgm:pt modelId="{92247C8E-DDF6-4F81-90C9-6C58018414CD}" type="sibTrans" cxnId="{6A1B294E-5BC9-4E58-8BA1-14E3C1E20E20}">
      <dgm:prSet/>
      <dgm:spPr/>
      <dgm:t>
        <a:bodyPr/>
        <a:lstStyle/>
        <a:p>
          <a:endParaRPr lang="en-US"/>
        </a:p>
      </dgm:t>
    </dgm:pt>
    <dgm:pt modelId="{DDB11022-D980-4038-B910-FC6278AEA787}">
      <dgm:prSet/>
      <dgm:spPr/>
      <dgm:t>
        <a:bodyPr/>
        <a:lstStyle/>
        <a:p>
          <a:r>
            <a:rPr lang="en-AU" b="1" dirty="0"/>
            <a:t>Risk varies significantly across individuals</a:t>
          </a:r>
          <a:endParaRPr lang="en-US" dirty="0">
            <a:solidFill>
              <a:schemeClr val="tx1"/>
            </a:solidFill>
          </a:endParaRPr>
        </a:p>
      </dgm:t>
    </dgm:pt>
    <dgm:pt modelId="{A0E59CFC-F4F2-4FB9-9BFC-D858830C1BE1}" type="parTrans" cxnId="{C22645D2-820E-4BC8-BA12-402ACF8602D9}">
      <dgm:prSet/>
      <dgm:spPr/>
      <dgm:t>
        <a:bodyPr/>
        <a:lstStyle/>
        <a:p>
          <a:endParaRPr lang="en-US"/>
        </a:p>
      </dgm:t>
    </dgm:pt>
    <dgm:pt modelId="{C1404EDE-B762-4D90-A39F-45E970CC03C0}" type="sibTrans" cxnId="{C22645D2-820E-4BC8-BA12-402ACF8602D9}">
      <dgm:prSet/>
      <dgm:spPr/>
      <dgm:t>
        <a:bodyPr/>
        <a:lstStyle/>
        <a:p>
          <a:endParaRPr lang="en-US"/>
        </a:p>
      </dgm:t>
    </dgm:pt>
    <dgm:pt modelId="{0D58A290-01F7-4E44-99CF-AAD2CF742FDB}">
      <dgm:prSet/>
      <dgm:spPr/>
      <dgm:t>
        <a:bodyPr/>
        <a:lstStyle/>
        <a:p>
          <a:r>
            <a:rPr lang="en-AU" b="1" dirty="0"/>
            <a:t>Targeted screening based on risk stratification improves outcomes.</a:t>
          </a:r>
          <a:endParaRPr lang="en-US" dirty="0"/>
        </a:p>
      </dgm:t>
    </dgm:pt>
    <dgm:pt modelId="{B2F82E3E-60A2-4350-9695-C59ED36186D5}" type="parTrans" cxnId="{72F59788-15C6-4C09-BE70-5C32D86D1966}">
      <dgm:prSet/>
      <dgm:spPr/>
      <dgm:t>
        <a:bodyPr/>
        <a:lstStyle/>
        <a:p>
          <a:endParaRPr lang="en-US"/>
        </a:p>
      </dgm:t>
    </dgm:pt>
    <dgm:pt modelId="{A2315D7C-9167-493E-9941-EF0E6218737D}" type="sibTrans" cxnId="{72F59788-15C6-4C09-BE70-5C32D86D1966}">
      <dgm:prSet/>
      <dgm:spPr/>
      <dgm:t>
        <a:bodyPr/>
        <a:lstStyle/>
        <a:p>
          <a:endParaRPr lang="en-US"/>
        </a:p>
      </dgm:t>
    </dgm:pt>
    <dgm:pt modelId="{1653237A-E91D-4885-BB89-3FD960E373DE}" type="pres">
      <dgm:prSet presAssocID="{3DBC6CE7-E46C-4B48-A392-F6E51E5FBF57}" presName="root" presStyleCnt="0">
        <dgm:presLayoutVars>
          <dgm:dir/>
          <dgm:resizeHandles val="exact"/>
        </dgm:presLayoutVars>
      </dgm:prSet>
      <dgm:spPr/>
    </dgm:pt>
    <dgm:pt modelId="{5D447330-5D87-4665-B95A-81A4F9DF18BB}" type="pres">
      <dgm:prSet presAssocID="{7F16251C-3383-46BE-9C18-E9FF7F3DA5DD}" presName="compNode" presStyleCnt="0"/>
      <dgm:spPr/>
    </dgm:pt>
    <dgm:pt modelId="{7120ED92-DD05-4767-BA2D-12C9BA75CF30}" type="pres">
      <dgm:prSet presAssocID="{7F16251C-3383-46BE-9C18-E9FF7F3DA5DD}" presName="bgRect" presStyleLbl="bgShp" presStyleIdx="0" presStyleCnt="3"/>
      <dgm:spPr/>
    </dgm:pt>
    <dgm:pt modelId="{8EFC131F-7054-4848-9774-2800E862B0AD}" type="pres">
      <dgm:prSet presAssocID="{7F16251C-3383-46BE-9C18-E9FF7F3DA5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0EBAC2F1-ACFF-4800-80AA-DB6F9732722F}" type="pres">
      <dgm:prSet presAssocID="{7F16251C-3383-46BE-9C18-E9FF7F3DA5DD}" presName="spaceRect" presStyleCnt="0"/>
      <dgm:spPr/>
    </dgm:pt>
    <dgm:pt modelId="{6AEFA0DE-C9F9-4956-969F-1072EE4C3A3F}" type="pres">
      <dgm:prSet presAssocID="{7F16251C-3383-46BE-9C18-E9FF7F3DA5DD}" presName="parTx" presStyleLbl="revTx" presStyleIdx="0" presStyleCnt="3">
        <dgm:presLayoutVars>
          <dgm:chMax val="0"/>
          <dgm:chPref val="0"/>
        </dgm:presLayoutVars>
      </dgm:prSet>
      <dgm:spPr/>
    </dgm:pt>
    <dgm:pt modelId="{C2F4C3C9-AACE-40B2-8EB6-BDFA7EB07ED2}" type="pres">
      <dgm:prSet presAssocID="{92247C8E-DDF6-4F81-90C9-6C58018414CD}" presName="sibTrans" presStyleCnt="0"/>
      <dgm:spPr/>
    </dgm:pt>
    <dgm:pt modelId="{B9BF7CC2-9281-4E9B-8250-86FDD04A3283}" type="pres">
      <dgm:prSet presAssocID="{DDB11022-D980-4038-B910-FC6278AEA787}" presName="compNode" presStyleCnt="0"/>
      <dgm:spPr/>
    </dgm:pt>
    <dgm:pt modelId="{25F0A91B-C556-4994-8A69-FEF11932B180}" type="pres">
      <dgm:prSet presAssocID="{DDB11022-D980-4038-B910-FC6278AEA787}" presName="bgRect" presStyleLbl="bgShp" presStyleIdx="1" presStyleCnt="3"/>
      <dgm:spPr/>
    </dgm:pt>
    <dgm:pt modelId="{B687D8AE-BFF4-452B-95C2-27FDC28F165B}" type="pres">
      <dgm:prSet presAssocID="{DDB11022-D980-4038-B910-FC6278AEA787}" presName="iconRect" presStyleLbl="node1" presStyleIdx="1" presStyleCnt="3" custFlipVert="1" custFlipHor="1" custScaleX="41662" custScaleY="66197" custLinFactNeighborX="16200" custLinFactNeighborY="-31901"/>
      <dgm:spPr>
        <a:ln>
          <a:noFill/>
        </a:ln>
      </dgm:spPr>
    </dgm:pt>
    <dgm:pt modelId="{FE20219D-DC06-43AE-97D1-B1347B211FD0}" type="pres">
      <dgm:prSet presAssocID="{DDB11022-D980-4038-B910-FC6278AEA787}" presName="spaceRect" presStyleCnt="0"/>
      <dgm:spPr/>
    </dgm:pt>
    <dgm:pt modelId="{CAB79A9C-2F1B-4940-A645-CAF94DC9BE0E}" type="pres">
      <dgm:prSet presAssocID="{DDB11022-D980-4038-B910-FC6278AEA787}" presName="parTx" presStyleLbl="revTx" presStyleIdx="1" presStyleCnt="3">
        <dgm:presLayoutVars>
          <dgm:chMax val="0"/>
          <dgm:chPref val="0"/>
        </dgm:presLayoutVars>
      </dgm:prSet>
      <dgm:spPr/>
    </dgm:pt>
    <dgm:pt modelId="{47D0DCEE-7202-4083-9944-F0743177CCDB}" type="pres">
      <dgm:prSet presAssocID="{C1404EDE-B762-4D90-A39F-45E970CC03C0}" presName="sibTrans" presStyleCnt="0"/>
      <dgm:spPr/>
    </dgm:pt>
    <dgm:pt modelId="{DBF9F694-854F-4ADA-8F6E-BBA9C2813D36}" type="pres">
      <dgm:prSet presAssocID="{0D58A290-01F7-4E44-99CF-AAD2CF742FDB}" presName="compNode" presStyleCnt="0"/>
      <dgm:spPr/>
    </dgm:pt>
    <dgm:pt modelId="{1AE8E518-FB84-43C2-AFF7-7336F7152806}" type="pres">
      <dgm:prSet presAssocID="{0D58A290-01F7-4E44-99CF-AAD2CF742FDB}" presName="bgRect" presStyleLbl="bgShp" presStyleIdx="2" presStyleCnt="3"/>
      <dgm:spPr/>
    </dgm:pt>
    <dgm:pt modelId="{E8BE1586-31D0-4992-9903-4DCF85577239}" type="pres">
      <dgm:prSet presAssocID="{0D58A290-01F7-4E44-99CF-AAD2CF742FDB}" presName="iconRect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41F7511-9EFE-4AA1-84F3-B843A3A99086}" type="pres">
      <dgm:prSet presAssocID="{0D58A290-01F7-4E44-99CF-AAD2CF742FDB}" presName="spaceRect" presStyleCnt="0"/>
      <dgm:spPr/>
    </dgm:pt>
    <dgm:pt modelId="{55615DB0-D54A-4C73-99EB-27D77C844741}" type="pres">
      <dgm:prSet presAssocID="{0D58A290-01F7-4E44-99CF-AAD2CF742FD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667E303-5694-4713-899C-304FAB37D249}" type="presOf" srcId="{DDB11022-D980-4038-B910-FC6278AEA787}" destId="{CAB79A9C-2F1B-4940-A645-CAF94DC9BE0E}" srcOrd="0" destOrd="0" presId="urn:microsoft.com/office/officeart/2018/2/layout/IconVerticalSolidList"/>
    <dgm:cxn modelId="{6A1B294E-5BC9-4E58-8BA1-14E3C1E20E20}" srcId="{3DBC6CE7-E46C-4B48-A392-F6E51E5FBF57}" destId="{7F16251C-3383-46BE-9C18-E9FF7F3DA5DD}" srcOrd="0" destOrd="0" parTransId="{93B4BDFA-F214-4098-9C7B-0AE95BE2D0AB}" sibTransId="{92247C8E-DDF6-4F81-90C9-6C58018414CD}"/>
    <dgm:cxn modelId="{94987965-46CE-42DD-B8B1-53F197B70516}" type="presOf" srcId="{3DBC6CE7-E46C-4B48-A392-F6E51E5FBF57}" destId="{1653237A-E91D-4885-BB89-3FD960E373DE}" srcOrd="0" destOrd="0" presId="urn:microsoft.com/office/officeart/2018/2/layout/IconVerticalSolidList"/>
    <dgm:cxn modelId="{72F59788-15C6-4C09-BE70-5C32D86D1966}" srcId="{3DBC6CE7-E46C-4B48-A392-F6E51E5FBF57}" destId="{0D58A290-01F7-4E44-99CF-AAD2CF742FDB}" srcOrd="2" destOrd="0" parTransId="{B2F82E3E-60A2-4350-9695-C59ED36186D5}" sibTransId="{A2315D7C-9167-493E-9941-EF0E6218737D}"/>
    <dgm:cxn modelId="{D0E6F69E-86EF-4D3A-AC1A-84F1518D024D}" type="presOf" srcId="{7F16251C-3383-46BE-9C18-E9FF7F3DA5DD}" destId="{6AEFA0DE-C9F9-4956-969F-1072EE4C3A3F}" srcOrd="0" destOrd="0" presId="urn:microsoft.com/office/officeart/2018/2/layout/IconVerticalSolidList"/>
    <dgm:cxn modelId="{24D81FD0-899E-477A-B2C6-211D8E5CCA43}" type="presOf" srcId="{0D58A290-01F7-4E44-99CF-AAD2CF742FDB}" destId="{55615DB0-D54A-4C73-99EB-27D77C844741}" srcOrd="0" destOrd="0" presId="urn:microsoft.com/office/officeart/2018/2/layout/IconVerticalSolidList"/>
    <dgm:cxn modelId="{C22645D2-820E-4BC8-BA12-402ACF8602D9}" srcId="{3DBC6CE7-E46C-4B48-A392-F6E51E5FBF57}" destId="{DDB11022-D980-4038-B910-FC6278AEA787}" srcOrd="1" destOrd="0" parTransId="{A0E59CFC-F4F2-4FB9-9BFC-D858830C1BE1}" sibTransId="{C1404EDE-B762-4D90-A39F-45E970CC03C0}"/>
    <dgm:cxn modelId="{4FACF4C1-4DBA-4BFD-92B9-906AD0E8DD51}" type="presParOf" srcId="{1653237A-E91D-4885-BB89-3FD960E373DE}" destId="{5D447330-5D87-4665-B95A-81A4F9DF18BB}" srcOrd="0" destOrd="0" presId="urn:microsoft.com/office/officeart/2018/2/layout/IconVerticalSolidList"/>
    <dgm:cxn modelId="{5E5FAA05-25AE-44F9-9341-7FFBD4556F56}" type="presParOf" srcId="{5D447330-5D87-4665-B95A-81A4F9DF18BB}" destId="{7120ED92-DD05-4767-BA2D-12C9BA75CF30}" srcOrd="0" destOrd="0" presId="urn:microsoft.com/office/officeart/2018/2/layout/IconVerticalSolidList"/>
    <dgm:cxn modelId="{71F28BA8-3D12-441C-B6EA-1870C200707C}" type="presParOf" srcId="{5D447330-5D87-4665-B95A-81A4F9DF18BB}" destId="{8EFC131F-7054-4848-9774-2800E862B0AD}" srcOrd="1" destOrd="0" presId="urn:microsoft.com/office/officeart/2018/2/layout/IconVerticalSolidList"/>
    <dgm:cxn modelId="{C8A4F9A9-50EB-4938-B991-E171B7507377}" type="presParOf" srcId="{5D447330-5D87-4665-B95A-81A4F9DF18BB}" destId="{0EBAC2F1-ACFF-4800-80AA-DB6F9732722F}" srcOrd="2" destOrd="0" presId="urn:microsoft.com/office/officeart/2018/2/layout/IconVerticalSolidList"/>
    <dgm:cxn modelId="{AFC02392-AB2A-47B6-A274-8D92911260AC}" type="presParOf" srcId="{5D447330-5D87-4665-B95A-81A4F9DF18BB}" destId="{6AEFA0DE-C9F9-4956-969F-1072EE4C3A3F}" srcOrd="3" destOrd="0" presId="urn:microsoft.com/office/officeart/2018/2/layout/IconVerticalSolidList"/>
    <dgm:cxn modelId="{EBBD63DF-D68B-4772-B358-98AB933FAE71}" type="presParOf" srcId="{1653237A-E91D-4885-BB89-3FD960E373DE}" destId="{C2F4C3C9-AACE-40B2-8EB6-BDFA7EB07ED2}" srcOrd="1" destOrd="0" presId="urn:microsoft.com/office/officeart/2018/2/layout/IconVerticalSolidList"/>
    <dgm:cxn modelId="{F22BAA6B-2451-4399-A2E8-18F89684193E}" type="presParOf" srcId="{1653237A-E91D-4885-BB89-3FD960E373DE}" destId="{B9BF7CC2-9281-4E9B-8250-86FDD04A3283}" srcOrd="2" destOrd="0" presId="urn:microsoft.com/office/officeart/2018/2/layout/IconVerticalSolidList"/>
    <dgm:cxn modelId="{4140C41B-29C7-400E-AAA1-D53DB82E8E22}" type="presParOf" srcId="{B9BF7CC2-9281-4E9B-8250-86FDD04A3283}" destId="{25F0A91B-C556-4994-8A69-FEF11932B180}" srcOrd="0" destOrd="0" presId="urn:microsoft.com/office/officeart/2018/2/layout/IconVerticalSolidList"/>
    <dgm:cxn modelId="{79D56996-4573-43F0-AF2C-8DB04762D642}" type="presParOf" srcId="{B9BF7CC2-9281-4E9B-8250-86FDD04A3283}" destId="{B687D8AE-BFF4-452B-95C2-27FDC28F165B}" srcOrd="1" destOrd="0" presId="urn:microsoft.com/office/officeart/2018/2/layout/IconVerticalSolidList"/>
    <dgm:cxn modelId="{18EBE7A5-2AE4-44DD-A364-6DB5954363E7}" type="presParOf" srcId="{B9BF7CC2-9281-4E9B-8250-86FDD04A3283}" destId="{FE20219D-DC06-43AE-97D1-B1347B211FD0}" srcOrd="2" destOrd="0" presId="urn:microsoft.com/office/officeart/2018/2/layout/IconVerticalSolidList"/>
    <dgm:cxn modelId="{C53B144F-EF59-42E3-B143-9B5DD08615AC}" type="presParOf" srcId="{B9BF7CC2-9281-4E9B-8250-86FDD04A3283}" destId="{CAB79A9C-2F1B-4940-A645-CAF94DC9BE0E}" srcOrd="3" destOrd="0" presId="urn:microsoft.com/office/officeart/2018/2/layout/IconVerticalSolidList"/>
    <dgm:cxn modelId="{1F66D8FE-396E-4E8F-95C1-71EB4C9288D3}" type="presParOf" srcId="{1653237A-E91D-4885-BB89-3FD960E373DE}" destId="{47D0DCEE-7202-4083-9944-F0743177CCDB}" srcOrd="3" destOrd="0" presId="urn:microsoft.com/office/officeart/2018/2/layout/IconVerticalSolidList"/>
    <dgm:cxn modelId="{EEE3143E-CB02-498D-B05C-98D1A9B53084}" type="presParOf" srcId="{1653237A-E91D-4885-BB89-3FD960E373DE}" destId="{DBF9F694-854F-4ADA-8F6E-BBA9C2813D36}" srcOrd="4" destOrd="0" presId="urn:microsoft.com/office/officeart/2018/2/layout/IconVerticalSolidList"/>
    <dgm:cxn modelId="{505CB304-F2F9-4653-B677-1A8A7BD9BA9B}" type="presParOf" srcId="{DBF9F694-854F-4ADA-8F6E-BBA9C2813D36}" destId="{1AE8E518-FB84-43C2-AFF7-7336F7152806}" srcOrd="0" destOrd="0" presId="urn:microsoft.com/office/officeart/2018/2/layout/IconVerticalSolidList"/>
    <dgm:cxn modelId="{2CD6B38D-8E90-49CF-BC42-A5FA19CC725B}" type="presParOf" srcId="{DBF9F694-854F-4ADA-8F6E-BBA9C2813D36}" destId="{E8BE1586-31D0-4992-9903-4DCF85577239}" srcOrd="1" destOrd="0" presId="urn:microsoft.com/office/officeart/2018/2/layout/IconVerticalSolidList"/>
    <dgm:cxn modelId="{2B087C2C-BD2D-4519-9B8A-0145D1E36D4B}" type="presParOf" srcId="{DBF9F694-854F-4ADA-8F6E-BBA9C2813D36}" destId="{641F7511-9EFE-4AA1-84F3-B843A3A99086}" srcOrd="2" destOrd="0" presId="urn:microsoft.com/office/officeart/2018/2/layout/IconVerticalSolidList"/>
    <dgm:cxn modelId="{AF98CFDF-E262-40A3-B96E-763BE632A492}" type="presParOf" srcId="{DBF9F694-854F-4ADA-8F6E-BBA9C2813D36}" destId="{55615DB0-D54A-4C73-99EB-27D77C8447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06147-6BEE-0941-8C82-136155465607}">
      <dsp:nvSpPr>
        <dsp:cNvPr id="0" name=""/>
        <dsp:cNvSpPr/>
      </dsp:nvSpPr>
      <dsp:spPr>
        <a:xfrm>
          <a:off x="0" y="117166"/>
          <a:ext cx="2610790" cy="31636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b="0" kern="1200" dirty="0"/>
            <a:t>Cancer incidence increases with age, showing a clear upward trend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b="0" kern="1200" dirty="0"/>
            <a:t>Older age groups demonstrate significantly higher prevalence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b="0" kern="1200" dirty="0"/>
            <a:t>Age is a critical factor in determining screening eligibility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b="1" i="0" kern="1200" dirty="0"/>
            <a:t>Key Insight:</a:t>
          </a:r>
          <a:br>
            <a:rPr lang="en-AU" sz="1300" i="0" kern="1200" dirty="0"/>
          </a:br>
          <a:r>
            <a:rPr lang="en-AU" sz="1300" i="0" kern="1200" dirty="0"/>
            <a:t>Age is a primary driver of lung cancer risk and a critical factor for targeted screening.</a:t>
          </a:r>
          <a:endParaRPr lang="en-AU" sz="1300" b="0" i="0" kern="1200" dirty="0"/>
        </a:p>
      </dsp:txBody>
      <dsp:txXfrm>
        <a:off x="127448" y="244614"/>
        <a:ext cx="2355894" cy="29087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0ED92-DD05-4767-BA2D-12C9BA75CF30}">
      <dsp:nvSpPr>
        <dsp:cNvPr id="0" name=""/>
        <dsp:cNvSpPr/>
      </dsp:nvSpPr>
      <dsp:spPr>
        <a:xfrm>
          <a:off x="0" y="640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C131F-7054-4848-9774-2800E862B0AD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FA0DE-C9F9-4956-969F-1072EE4C3A3F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b="1" kern="1200" dirty="0"/>
            <a:t>Lung cancer remains a high-mortality disease</a:t>
          </a:r>
          <a:endParaRPr lang="en-US" sz="2100" kern="1200" dirty="0"/>
        </a:p>
      </dsp:txBody>
      <dsp:txXfrm>
        <a:off x="1730984" y="640"/>
        <a:ext cx="3062471" cy="1498687"/>
      </dsp:txXfrm>
    </dsp:sp>
    <dsp:sp modelId="{25F0A91B-C556-4994-8A69-FEF11932B180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7D8AE-BFF4-452B-95C2-27FDC28F165B}">
      <dsp:nvSpPr>
        <dsp:cNvPr id="0" name=""/>
        <dsp:cNvSpPr/>
      </dsp:nvSpPr>
      <dsp:spPr>
        <a:xfrm flipH="1" flipV="1">
          <a:off x="827319" y="2087566"/>
          <a:ext cx="343410" cy="545647"/>
        </a:xfrm>
        <a:prstGeom prst="rect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79A9C-2F1B-4940-A645-CAF94DC9BE0E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b="1" kern="1200" dirty="0"/>
            <a:t>Risk varies significantly across individuals</a:t>
          </a:r>
          <a:endParaRPr lang="en-US" sz="2100" kern="1200" dirty="0">
            <a:solidFill>
              <a:schemeClr val="tx1"/>
            </a:solidFill>
          </a:endParaRPr>
        </a:p>
      </dsp:txBody>
      <dsp:txXfrm>
        <a:off x="1730984" y="1873999"/>
        <a:ext cx="3062471" cy="1498687"/>
      </dsp:txXfrm>
    </dsp:sp>
    <dsp:sp modelId="{1AE8E518-FB84-43C2-AFF7-7336F7152806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BE1586-31D0-4992-9903-4DCF85577239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15DB0-D54A-4C73-99EB-27D77C844741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b="1" kern="1200" dirty="0"/>
            <a:t>Targeted screening based on risk stratification improves outcomes.</a:t>
          </a:r>
          <a:endParaRPr lang="en-US" sz="2100" kern="1200" dirty="0"/>
        </a:p>
      </dsp:txBody>
      <dsp:txXfrm>
        <a:off x="1730984" y="3747359"/>
        <a:ext cx="3062471" cy="1498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34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6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3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6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8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2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8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9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6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5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18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00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79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40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98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1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0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2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6368213" y="4185117"/>
            <a:ext cx="2474555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341709" y="4241801"/>
            <a:ext cx="8458200" cy="233716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2378" y="1143000"/>
            <a:ext cx="6619243" cy="3389217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AU" sz="6000" dirty="0"/>
              <a:t>Risk Stratification for Lung Cancer Screening Using Machine Learning</a:t>
            </a:r>
            <a:endParaRPr lang="en-AU" sz="57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378" y="5240851"/>
            <a:ext cx="6619243" cy="828932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AU" sz="2100" dirty="0">
                <a:solidFill>
                  <a:schemeClr val="tx2"/>
                </a:solidFill>
              </a:rPr>
              <a:t>A Data-Driven Approach to Identifying High-Risk Patients Using Clinical and Demographic Factors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Dataset &amp; Features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Target Variable: Lung Cancer Outcome</a:t>
            </a:r>
          </a:p>
          <a:p>
            <a:r>
              <a:rPr lang="en-AU" dirty="0"/>
              <a:t>Demographic Features: Age, Age Groups</a:t>
            </a:r>
          </a:p>
          <a:p>
            <a:r>
              <a:rPr lang="en-AU" dirty="0"/>
              <a:t>Behavioural Feature: Smoking Exposure (Pack-years)</a:t>
            </a:r>
          </a:p>
          <a:p>
            <a:r>
              <a:rPr lang="en-AU" dirty="0"/>
              <a:t>Clinical Feature: COPD Status </a:t>
            </a:r>
          </a:p>
          <a:p>
            <a:r>
              <a:rPr lang="en-AU" dirty="0"/>
              <a:t>Genetic Factor: Family History </a:t>
            </a:r>
          </a:p>
          <a:p>
            <a:r>
              <a:rPr lang="en-AU" dirty="0"/>
              <a:t>Composite Metric: Risk Score</a:t>
            </a:r>
          </a:p>
          <a:p>
            <a:r>
              <a:rPr lang="en-AU" b="1" dirty="0"/>
              <a:t>Purpose:</a:t>
            </a:r>
            <a:br>
              <a:rPr lang="en-AU" dirty="0"/>
            </a:br>
            <a:r>
              <a:rPr lang="en-AU" dirty="0" err="1"/>
              <a:t>Analyze</a:t>
            </a:r>
            <a:r>
              <a:rPr lang="en-AU" dirty="0"/>
              <a:t> key risk factors influencing lung cancer and support risk stratification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396" y="973667"/>
            <a:ext cx="2699802" cy="741603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AU" sz="2500" dirty="0">
                <a:solidFill>
                  <a:srgbClr val="EBEBEB"/>
                </a:solidFill>
              </a:rPr>
              <a:t>Lung Cancer Risk vs Risk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38B43-CC67-8540-BA9F-806751E7D1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981"/>
          <a:stretch/>
        </p:blipFill>
        <p:spPr>
          <a:xfrm>
            <a:off x="3895955" y="1715270"/>
            <a:ext cx="4793650" cy="331532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501" y="1828800"/>
            <a:ext cx="3250005" cy="4191000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Cancer incidence increases significantly from low to high-risk groups </a:t>
            </a:r>
          </a:p>
          <a:p>
            <a:r>
              <a:rPr lang="en-AU" dirty="0">
                <a:solidFill>
                  <a:srgbClr val="FFFFFF"/>
                </a:solidFill>
              </a:rPr>
              <a:t>High-risk groups demonstrate the highest prevalence, supporting targeted screening strategies</a:t>
            </a:r>
          </a:p>
          <a:p>
            <a:r>
              <a:rPr lang="en-AU" dirty="0">
                <a:solidFill>
                  <a:srgbClr val="FFFFFF"/>
                </a:solidFill>
              </a:rPr>
              <a:t>Key Insight:</a:t>
            </a:r>
            <a:br>
              <a:rPr lang="en-AU" dirty="0">
                <a:solidFill>
                  <a:srgbClr val="FFFFFF"/>
                </a:solidFill>
              </a:rPr>
            </a:br>
            <a:r>
              <a:rPr lang="en-AU" dirty="0">
                <a:solidFill>
                  <a:srgbClr val="FFFFFF"/>
                </a:solidFill>
              </a:rPr>
              <a:t>Risk stratification enables identification of high-risk patients for efficient screening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542280-D89C-3449-9D34-47143DD1E359}"/>
              </a:ext>
            </a:extLst>
          </p:cNvPr>
          <p:cNvSpPr txBox="1"/>
          <p:nvPr/>
        </p:nvSpPr>
        <p:spPr>
          <a:xfrm>
            <a:off x="3885007" y="5030599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</a:rPr>
              <a:t>Key Values:	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bg1"/>
                </a:solidFill>
              </a:rPr>
              <a:t>Low Risk: 48%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bg1"/>
                </a:solidFill>
              </a:rPr>
              <a:t>Medium Risk: 64%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bg1"/>
                </a:solidFill>
              </a:rPr>
              <a:t>High Risk: 83%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1200" dirty="0">
              <a:solidFill>
                <a:schemeClr val="bg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EBEBEB"/>
                </a:solidFill>
              </a:rPr>
              <a:t>Impact of Age on Lung Cancer Risk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E2E7C2-DB41-E449-BF4F-5BCA4AFED5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" t="2678" r="-2" b="28486"/>
          <a:stretch/>
        </p:blipFill>
        <p:spPr>
          <a:xfrm>
            <a:off x="3764431" y="2375594"/>
            <a:ext cx="4618106" cy="245777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0704A7-A5E7-55FC-63BA-FBD28EFE99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0779915"/>
              </p:ext>
            </p:extLst>
          </p:nvPr>
        </p:nvGraphicFramePr>
        <p:xfrm>
          <a:off x="866216" y="2603500"/>
          <a:ext cx="2610790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2CA857B-616C-D643-BC33-338108DF6DF7}"/>
              </a:ext>
            </a:extLst>
          </p:cNvPr>
          <p:cNvSpPr txBox="1"/>
          <p:nvPr/>
        </p:nvSpPr>
        <p:spPr>
          <a:xfrm>
            <a:off x="3961759" y="5103674"/>
            <a:ext cx="23846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Key Values: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&lt;40: 61%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40–55: 64%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55–70: 75%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70+: 74%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EBEBEB"/>
                </a:solidFill>
              </a:rPr>
              <a:t>Trend of Lung Cancer Risk with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2603500"/>
            <a:ext cx="2610790" cy="3416300"/>
          </a:xfrm>
        </p:spPr>
        <p:txBody>
          <a:bodyPr anchor="ctr">
            <a:normAutofit/>
          </a:bodyPr>
          <a:lstStyle/>
          <a:p>
            <a:r>
              <a:rPr lang="en-AU" sz="1400" dirty="0"/>
              <a:t>This trend confirms a consistent increase in cancer risk across continuous age groups.</a:t>
            </a:r>
          </a:p>
          <a:p>
            <a:r>
              <a:rPr lang="en-AU" sz="1400" dirty="0"/>
              <a:t>Supports age-based screening </a:t>
            </a:r>
            <a:r>
              <a:rPr lang="en-AU" sz="1400" dirty="0" err="1"/>
              <a:t>strat</a:t>
            </a:r>
            <a:endParaRPr lang="en-AU" sz="1400" dirty="0"/>
          </a:p>
          <a:p>
            <a:r>
              <a:rPr lang="en-AU" sz="1400" dirty="0"/>
              <a:t>Key Insight:</a:t>
            </a:r>
            <a:br>
              <a:rPr lang="en-AU" sz="1400" dirty="0"/>
            </a:br>
            <a:r>
              <a:rPr lang="en-AU" sz="1400" dirty="0"/>
              <a:t>Cancer risk increases progressively with age, reinforcing age as a primary factor in screening decisions.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F744C-EB95-FF4B-A6BA-9072A3241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717" y="2894933"/>
            <a:ext cx="4619101" cy="282919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396" y="973668"/>
            <a:ext cx="28804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2200" dirty="0">
                <a:solidFill>
                  <a:srgbClr val="EBEBEB"/>
                </a:solidFill>
              </a:rPr>
              <a:t>Impact of Smoking Exposure on Lung Cancer 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BBFC7-623E-2148-88C5-CAAC4507BE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521"/>
          <a:stretch/>
        </p:blipFill>
        <p:spPr>
          <a:xfrm>
            <a:off x="3895955" y="1667333"/>
            <a:ext cx="4793649" cy="301099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503" y="2073664"/>
            <a:ext cx="2869718" cy="3391471"/>
          </a:xfrm>
        </p:spPr>
        <p:txBody>
          <a:bodyPr>
            <a:normAutofit fontScale="77500" lnSpcReduction="20000"/>
          </a:bodyPr>
          <a:lstStyle/>
          <a:p>
            <a:r>
              <a:rPr lang="en-AU" dirty="0">
                <a:solidFill>
                  <a:srgbClr val="FFFFFF"/>
                </a:solidFill>
              </a:rPr>
              <a:t>Cancer incidence increases significantly with higher smoking exposure.</a:t>
            </a:r>
          </a:p>
          <a:p>
            <a:r>
              <a:rPr lang="en-AU" dirty="0">
                <a:solidFill>
                  <a:srgbClr val="FFFFFF"/>
                </a:solidFill>
              </a:rPr>
              <a:t>Individuals with moderate to high exposure show substantially higher risk.</a:t>
            </a:r>
          </a:p>
          <a:p>
            <a:r>
              <a:rPr lang="en-AU" dirty="0">
                <a:solidFill>
                  <a:srgbClr val="FFFFFF"/>
                </a:solidFill>
              </a:rPr>
              <a:t>Smoking exposure (pack-years) is a critical predictor of lung cancer risk</a:t>
            </a:r>
          </a:p>
          <a:p>
            <a:r>
              <a:rPr lang="en-AU" dirty="0">
                <a:solidFill>
                  <a:srgbClr val="FFFFFF"/>
                </a:solidFill>
              </a:rPr>
              <a:t>Key Insight:</a:t>
            </a:r>
            <a:br>
              <a:rPr lang="en-AU" dirty="0">
                <a:solidFill>
                  <a:srgbClr val="FFFFFF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Smoking exposure is one of the strongest predictors of lung cancer risk, highlighting the importance of lifestyle factors in screening decisions.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FF3B2-BC41-8949-A37A-8A34D3284F4D}"/>
              </a:ext>
            </a:extLst>
          </p:cNvPr>
          <p:cNvSpPr txBox="1"/>
          <p:nvPr/>
        </p:nvSpPr>
        <p:spPr>
          <a:xfrm>
            <a:off x="4207366" y="4678326"/>
            <a:ext cx="135485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Key Values:</a:t>
            </a:r>
          </a:p>
          <a:p>
            <a:r>
              <a:rPr lang="en-US" sz="1200" dirty="0">
                <a:solidFill>
                  <a:schemeClr val="bg1"/>
                </a:solidFill>
              </a:rPr>
              <a:t>Low: 41% </a:t>
            </a:r>
          </a:p>
          <a:p>
            <a:r>
              <a:rPr lang="en-US" sz="1200" dirty="0">
                <a:solidFill>
                  <a:schemeClr val="bg1"/>
                </a:solidFill>
              </a:rPr>
              <a:t>Moderate: 76% </a:t>
            </a:r>
          </a:p>
          <a:p>
            <a:r>
              <a:rPr lang="en-US" sz="1200" dirty="0">
                <a:solidFill>
                  <a:schemeClr val="bg1"/>
                </a:solidFill>
              </a:rPr>
              <a:t>High: 76%</a:t>
            </a:r>
          </a:p>
          <a:p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4" y="973668"/>
            <a:ext cx="7004798" cy="706964"/>
          </a:xfrm>
        </p:spPr>
        <p:txBody>
          <a:bodyPr>
            <a:normAutofit fontScale="90000"/>
          </a:bodyPr>
          <a:lstStyle/>
          <a:p>
            <a:r>
              <a:rPr lang="en-AU" dirty="0"/>
              <a:t>Impact of COPD on Lung Cancer Risk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5" y="2603500"/>
            <a:ext cx="3028771" cy="3416300"/>
          </a:xfrm>
        </p:spPr>
        <p:txBody>
          <a:bodyPr anchor="ctr">
            <a:normAutofit fontScale="92500"/>
          </a:bodyPr>
          <a:lstStyle/>
          <a:p>
            <a:r>
              <a:rPr lang="en-AU" sz="1400" dirty="0"/>
              <a:t>Cancer incidence is higher in patients with COPD compared to non-COPD individuals</a:t>
            </a:r>
          </a:p>
          <a:p>
            <a:r>
              <a:rPr lang="en-AU" sz="1400" dirty="0"/>
              <a:t>COPD is associated with increased lung cancer risk due to underlying chronic lung damage</a:t>
            </a:r>
          </a:p>
          <a:p>
            <a:r>
              <a:rPr lang="en-AU" sz="1400" dirty="0"/>
              <a:t>Indicates COPD as an important clinical risk factor.</a:t>
            </a:r>
          </a:p>
          <a:p>
            <a:r>
              <a:rPr lang="en-AU" sz="1400" dirty="0"/>
              <a:t>Key Insight:</a:t>
            </a:r>
            <a:br>
              <a:rPr lang="en-AU" sz="1400" dirty="0"/>
            </a:br>
            <a:r>
              <a:rPr lang="en-AU" sz="1400" dirty="0"/>
              <a:t>COPD is a significant clinical risk factor and should be incorporated into lung cancer risk stratification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F6F51-AFC0-9F45-BD92-4A68437BB8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26" r="-14" b="19648"/>
          <a:stretch/>
        </p:blipFill>
        <p:spPr>
          <a:xfrm>
            <a:off x="3728085" y="2435711"/>
            <a:ext cx="4619101" cy="283804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704078-270F-0B45-8B8F-89CD9007C62F}"/>
              </a:ext>
            </a:extLst>
          </p:cNvPr>
          <p:cNvSpPr txBox="1"/>
          <p:nvPr/>
        </p:nvSpPr>
        <p:spPr>
          <a:xfrm>
            <a:off x="3624464" y="5428665"/>
            <a:ext cx="18950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Values:</a:t>
            </a:r>
          </a:p>
          <a:p>
            <a:r>
              <a:rPr lang="en-US" dirty="0"/>
              <a:t>No COPD: 62% </a:t>
            </a:r>
          </a:p>
          <a:p>
            <a:r>
              <a:rPr lang="en-US" dirty="0"/>
              <a:t>COPD: 76%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 fontScale="90000"/>
          </a:bodyPr>
          <a:lstStyle/>
          <a:p>
            <a:r>
              <a:rPr lang="en-AU" dirty="0"/>
              <a:t>Impact of Family History on Lung Cancer Risk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2603500"/>
            <a:ext cx="2610790" cy="3416300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1400" dirty="0"/>
              <a:t>Individuals with a family history of lung cancer show higher cancer incidence.</a:t>
            </a:r>
          </a:p>
          <a:p>
            <a:r>
              <a:rPr lang="en-AU" sz="1400" dirty="0"/>
              <a:t> Genetic predisposition contributes to increased risk.</a:t>
            </a:r>
          </a:p>
          <a:p>
            <a:r>
              <a:rPr lang="en-AU" sz="1400" dirty="0"/>
              <a:t> Family history acts as an additional but important risk factor</a:t>
            </a:r>
          </a:p>
          <a:p>
            <a:r>
              <a:rPr lang="en-AU" sz="1400" dirty="0"/>
              <a:t>Key Insight:</a:t>
            </a:r>
            <a:br>
              <a:rPr lang="en-AU" sz="1400" dirty="0"/>
            </a:br>
            <a:r>
              <a:rPr lang="en-AU" sz="1400" dirty="0"/>
              <a:t>Family history contributes to increased lung cancer risk, but has a smaller impact compared to smoking and COPD.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9AE4F-A2B4-1A4A-8FCE-11F8110E25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94" r="2" b="19761"/>
          <a:stretch/>
        </p:blipFill>
        <p:spPr>
          <a:xfrm>
            <a:off x="3658683" y="2233691"/>
            <a:ext cx="4619101" cy="291246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43E337-FEA9-8242-A361-077FDABE32EA}"/>
              </a:ext>
            </a:extLst>
          </p:cNvPr>
          <p:cNvSpPr txBox="1"/>
          <p:nvPr/>
        </p:nvSpPr>
        <p:spPr>
          <a:xfrm>
            <a:off x="3572540" y="5284167"/>
            <a:ext cx="26805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Values:</a:t>
            </a:r>
          </a:p>
          <a:p>
            <a:r>
              <a:rPr lang="en-US" dirty="0"/>
              <a:t>No Family History: 64% </a:t>
            </a:r>
          </a:p>
          <a:p>
            <a:r>
              <a:rPr lang="en-US" dirty="0"/>
              <a:t>Family History: 74%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EBEBEB"/>
                </a:solidFill>
              </a:rPr>
              <a:t>Distribution of Lung Cancer Risk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2603500"/>
            <a:ext cx="2610790" cy="3416300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1400" dirty="0"/>
              <a:t>Cancer cases are concentrated at higher risk scores.</a:t>
            </a:r>
          </a:p>
          <a:p>
            <a:r>
              <a:rPr lang="en-AU" sz="1400" dirty="0"/>
              <a:t> Higher cumulative risk factors correspond to increased cancer likelihood.</a:t>
            </a:r>
          </a:p>
          <a:p>
            <a:r>
              <a:rPr lang="en-AU" sz="1400" dirty="0"/>
              <a:t> Demonstrates effectiveness of risk scoring approach</a:t>
            </a:r>
          </a:p>
          <a:p>
            <a:r>
              <a:rPr lang="en-AU" sz="1400" dirty="0"/>
              <a:t>Key Insight:</a:t>
            </a:r>
            <a:br>
              <a:rPr lang="en-AU" sz="1400" dirty="0"/>
            </a:br>
            <a:r>
              <a:rPr lang="en-AU" sz="1400" dirty="0"/>
              <a:t>Higher risk scores strongly correlate with cancer presence, validating risk stratification.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791D7-1E9B-4D4A-A603-2FC513D35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717" y="3200948"/>
            <a:ext cx="4619101" cy="221716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981798-4550-46DA-9172-4846E2FB6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2EB7D3-3AD8-4ED1-9E1A-2906E1463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317501" y="404829"/>
            <a:ext cx="335914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832" y="973668"/>
            <a:ext cx="3133400" cy="1391692"/>
          </a:xfrm>
        </p:spPr>
        <p:txBody>
          <a:bodyPr>
            <a:normAutofit/>
          </a:bodyPr>
          <a:lstStyle/>
          <a:p>
            <a:r>
              <a:rPr lang="en-AU" sz="1800" dirty="0">
                <a:solidFill>
                  <a:schemeClr val="tx2"/>
                </a:solidFill>
              </a:rPr>
              <a:t>Interaction Between Age and Cumulative Risk on Lung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832" y="2603500"/>
            <a:ext cx="3054505" cy="3416300"/>
          </a:xfrm>
        </p:spPr>
        <p:txBody>
          <a:bodyPr>
            <a:normAutofit fontScale="85000" lnSpcReduction="10000"/>
          </a:bodyPr>
          <a:lstStyle/>
          <a:p>
            <a:r>
              <a:rPr lang="en-AU" dirty="0"/>
              <a:t>Highest cancer risk occurs when both age and cumulative risk are high.</a:t>
            </a:r>
          </a:p>
          <a:p>
            <a:r>
              <a:rPr lang="en-AU" dirty="0"/>
              <a:t>Demonstrates combined effect of demographic and risk factors.</a:t>
            </a:r>
          </a:p>
          <a:p>
            <a:r>
              <a:rPr lang="en-AU" dirty="0"/>
              <a:t>Supports targeted screening at high-risk intersections</a:t>
            </a:r>
          </a:p>
          <a:p>
            <a:r>
              <a:rPr lang="en-AU" dirty="0"/>
              <a:t>Key Insight:</a:t>
            </a:r>
            <a:br>
              <a:rPr lang="en-AU" dirty="0"/>
            </a:br>
            <a:r>
              <a:rPr lang="en-AU" dirty="0"/>
              <a:t>Combined risk factors significantly amplify cancer risk, validating multi-factor stratification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9B478C-44DD-EF40-9266-F3AB68B01B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6" r="11383" b="2"/>
          <a:stretch>
            <a:fillRect/>
          </a:stretch>
        </p:blipFill>
        <p:spPr>
          <a:xfrm>
            <a:off x="3840087" y="461681"/>
            <a:ext cx="4939162" cy="5934638"/>
          </a:xfrm>
          <a:custGeom>
            <a:avLst/>
            <a:gdLst/>
            <a:ahLst/>
            <a:cxnLst/>
            <a:rect l="l" t="t" r="r" b="b"/>
            <a:pathLst>
              <a:path w="6585549" h="5934638">
                <a:moveTo>
                  <a:pt x="225406" y="0"/>
                </a:moveTo>
                <a:lnTo>
                  <a:pt x="6585549" y="0"/>
                </a:lnTo>
                <a:lnTo>
                  <a:pt x="6585549" y="5934638"/>
                </a:lnTo>
                <a:lnTo>
                  <a:pt x="226600" y="5934638"/>
                </a:lnTo>
                <a:lnTo>
                  <a:pt x="214529" y="5856373"/>
                </a:lnTo>
                <a:lnTo>
                  <a:pt x="203238" y="5780097"/>
                </a:lnTo>
                <a:lnTo>
                  <a:pt x="191320" y="5689292"/>
                </a:lnTo>
                <a:lnTo>
                  <a:pt x="177049" y="5581536"/>
                </a:lnTo>
                <a:lnTo>
                  <a:pt x="161995" y="5462279"/>
                </a:lnTo>
                <a:lnTo>
                  <a:pt x="146156" y="5327888"/>
                </a:lnTo>
                <a:lnTo>
                  <a:pt x="129376" y="5181389"/>
                </a:lnTo>
                <a:lnTo>
                  <a:pt x="112596" y="5022177"/>
                </a:lnTo>
                <a:lnTo>
                  <a:pt x="95503" y="4852675"/>
                </a:lnTo>
                <a:lnTo>
                  <a:pt x="79664" y="4669854"/>
                </a:lnTo>
                <a:lnTo>
                  <a:pt x="64453" y="4478558"/>
                </a:lnTo>
                <a:lnTo>
                  <a:pt x="50652" y="4276365"/>
                </a:lnTo>
                <a:lnTo>
                  <a:pt x="37480" y="4065697"/>
                </a:lnTo>
                <a:lnTo>
                  <a:pt x="25091" y="3845949"/>
                </a:lnTo>
                <a:lnTo>
                  <a:pt x="20700" y="3733351"/>
                </a:lnTo>
                <a:lnTo>
                  <a:pt x="15838" y="3618331"/>
                </a:lnTo>
                <a:lnTo>
                  <a:pt x="11291" y="3501495"/>
                </a:lnTo>
                <a:lnTo>
                  <a:pt x="8311" y="3384054"/>
                </a:lnTo>
                <a:lnTo>
                  <a:pt x="5645" y="3264191"/>
                </a:lnTo>
                <a:lnTo>
                  <a:pt x="2822" y="3143118"/>
                </a:lnTo>
                <a:lnTo>
                  <a:pt x="941" y="3019623"/>
                </a:lnTo>
                <a:lnTo>
                  <a:pt x="941" y="2894918"/>
                </a:lnTo>
                <a:lnTo>
                  <a:pt x="0" y="2769001"/>
                </a:lnTo>
                <a:lnTo>
                  <a:pt x="941" y="2641874"/>
                </a:lnTo>
                <a:lnTo>
                  <a:pt x="2822" y="2512931"/>
                </a:lnTo>
                <a:lnTo>
                  <a:pt x="4547" y="2383988"/>
                </a:lnTo>
                <a:lnTo>
                  <a:pt x="8311" y="2253229"/>
                </a:lnTo>
                <a:lnTo>
                  <a:pt x="12232" y="2121259"/>
                </a:lnTo>
                <a:lnTo>
                  <a:pt x="16779" y="1989289"/>
                </a:lnTo>
                <a:lnTo>
                  <a:pt x="23209" y="1856108"/>
                </a:lnTo>
                <a:lnTo>
                  <a:pt x="30893" y="1721716"/>
                </a:lnTo>
                <a:lnTo>
                  <a:pt x="38264" y="1586720"/>
                </a:lnTo>
                <a:lnTo>
                  <a:pt x="47673" y="1451723"/>
                </a:lnTo>
                <a:lnTo>
                  <a:pt x="58964" y="1314910"/>
                </a:lnTo>
                <a:lnTo>
                  <a:pt x="70255" y="1179913"/>
                </a:lnTo>
                <a:lnTo>
                  <a:pt x="83271" y="1042495"/>
                </a:lnTo>
                <a:lnTo>
                  <a:pt x="97542" y="904471"/>
                </a:lnTo>
                <a:lnTo>
                  <a:pt x="112596" y="768263"/>
                </a:lnTo>
                <a:lnTo>
                  <a:pt x="130160" y="630240"/>
                </a:lnTo>
                <a:lnTo>
                  <a:pt x="148978" y="492821"/>
                </a:lnTo>
                <a:lnTo>
                  <a:pt x="167640" y="354798"/>
                </a:lnTo>
                <a:lnTo>
                  <a:pt x="189438" y="217380"/>
                </a:lnTo>
                <a:lnTo>
                  <a:pt x="211706" y="80567"/>
                </a:lnTo>
                <a:close/>
              </a:path>
            </a:pathLst>
          </a:custGeom>
        </p:spPr>
      </p:pic>
      <p:sp>
        <p:nvSpPr>
          <p:cNvPr id="14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2246569" y="195844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AU" sz="2700">
                <a:solidFill>
                  <a:srgbClr val="EBEBEB"/>
                </a:solidFill>
              </a:rPr>
              <a:t>Conclusion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22652E-16B5-7EC5-E55B-9FF2F5C9E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51636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614</Words>
  <Application>Microsoft Macintosh PowerPoint</Application>
  <PresentationFormat>On-screen Show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Risk Stratification for Lung Cancer Screening Using Machine Learning</vt:lpstr>
      <vt:lpstr>Dataset &amp; Features Overview</vt:lpstr>
      <vt:lpstr>Lung Cancer Risk vs Risk Level</vt:lpstr>
      <vt:lpstr>Impact of Age on Lung Cancer Risk</vt:lpstr>
      <vt:lpstr>Trend of Lung Cancer Risk with Age</vt:lpstr>
      <vt:lpstr>Impact of Smoking Exposure on Lung Cancer Risk</vt:lpstr>
      <vt:lpstr>Impact of COPD on Lung Cancer Risk</vt:lpstr>
      <vt:lpstr>Impact of Family History on Lung Cancer Risk</vt:lpstr>
      <vt:lpstr>Distribution of Lung Cancer Risk Scores</vt:lpstr>
      <vt:lpstr>Interaction Between Age and Cumulative Risk on Lung Cancer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Amna Ghaffar Data Science and Al</dc:title>
  <dc:creator>Amna Ghaffar</dc:creator>
  <cp:lastModifiedBy>Amna Ghaffar</cp:lastModifiedBy>
  <cp:revision>3</cp:revision>
  <dcterms:created xsi:type="dcterms:W3CDTF">2026-01-30T16:47:07Z</dcterms:created>
  <dcterms:modified xsi:type="dcterms:W3CDTF">2026-04-26T14:05:32Z</dcterms:modified>
</cp:coreProperties>
</file>